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1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457200"/>
            <a:ext cx="3657600" cy="6126480"/>
          </a:xfrm>
          <a:prstGeom prst="rect">
            <a:avLst/>
          </a:prstGeom>
          <a:solidFill>
            <a:srgbClr val="0077B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6858000" y="2743200"/>
            <a:ext cx="3657600" cy="365760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SecureDID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828800" y="18288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Replay-Resistant Authentication &amp;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Credential Revocation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Decentralized Identity Systems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338328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Rane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 — Don Bosco College of Engineering, Goa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64008" cy="1143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3258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DID?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63040" y="1508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 (DID) gives users full control over their digital identity without relying on centralized authorities. Built on blockchain and W3C standards.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377440"/>
            <a:ext cx="64008" cy="1143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6517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SSI?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463040" y="2834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Self-Sovereign Identity (SSI) extends DID with ultimate data ownership. Users decide what to share, with whom, and for how long — no intermediaries.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70332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703320"/>
            <a:ext cx="64008" cy="1143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776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63040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their promise, current DID/SSI systems have critical security flaws: credentials can be replayed, and revocation is slow and privacy-leaking.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3794760" cy="4572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789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005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Drawback A: Credential Replay Attack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77240" y="16002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Verifiable Presentations can be replayed by attackers to impersonate legitimate users.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DID systems lack session-bound cryptographic binding between presentations and verification sessions.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al., IEEE Access 2021 (Attack A8)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00600" y="100584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800600" y="1005840"/>
            <a:ext cx="3794760" cy="4572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789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9240" y="1005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Drawback B: Weak Credential Revocation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0" y="16002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credentials (fired employee, suspended license) remain accepted by verifiers.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registries leak privacy by revealing which credential was revoked. Real-time status is not guaranteed.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IEEE Access 2025; Deng et al., IEEE Trans. Computers 2024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5" name="Text 10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51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25880" y="10789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Replay-Resistant DID 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3898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session-bound challenge-response protocol using time-limited cryptographic nonces (30s TTL) with one-time-use enforcement.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11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25880" y="20391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Privacy-Preserving Credential Revocation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23500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bitstring accumulator that enables instant revocation without revealing which specific credential was revoked.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92608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971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25880" y="2999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Prototype (SecureDID)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25880" y="33101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system with DID creation, credential issuance, DID-based login, and an attack simulation panel for live demo.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88620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931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325880" y="3959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Against Known Attack Vectors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25880" y="4270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security against the 7 DID attack surfaces identified by Kim et al. (IEEE Access 2021) through adversarial testing.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(1/2)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 et al. — Security Analysis of DID Services (IEEE Access)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7 attack surfaces: wallet attacks, phishing/impersonation, cache poisoning, microservice attacks, DDO forgery, VDR partitioning, social recovery attacks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 et al. — FutureDID (IEEE Trans. Computers)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DID/VC lacks SPOF protection and efficient revocation. Proposed multi-party issuance with 60x revocation improvement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Krul et al. — SoK: Trusting SSI (PoPETs)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Catalogued 11+ threats including unlinkability failure, key theft, credential validity gaps, and offline verification impossibility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Grüner et al. — SSI Threat Modeling (Int. J. Inf. Secur.)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 threat surface is significantly higher than traditional identity models. Found 35 threats with only 15 mitigations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(2/2)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Kubach et al. — Threats to SSI (Applied Sciences)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survey of wallet, blockchain, smart contract, and human-layer threats across IEEE/ACM/Springer literature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Revocation &amp; DID Deactivation Survey (IEEE Access)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revocation not guaranteed. Accumulator scalability fails at national scale. Privacy-accountability tradeoff unsolved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Khairnar — Blockchain DID for IoT (Virginia Tech)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DID for IoT devices. IBM Cloud dependency creates centralized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Schumm et al. — DI Applications Study (Univ. Zurich)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of real-world DID deployments have centralized governance. No system achieves true interoperability or offline verification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B192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320040" cy="3200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09728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Gap: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09728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session-bound replay prevention with privacy-preserving instant revocation in a single working prototype with live attack demonstration.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0" name="Text 5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System Overview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2606040" cy="594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51560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+ Tailwind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31520" y="19202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UI, Login Flow,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Simulator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8328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83280" y="1051560"/>
            <a:ext cx="2606040" cy="59436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8620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886200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566160" y="19202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Manager, Credential Issuer,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Engine, VP Verifier,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Registry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051560"/>
            <a:ext cx="2606040" cy="594360"/>
          </a:xfrm>
          <a:prstGeom prst="rect">
            <a:avLst/>
          </a:prstGeom>
          <a:solidFill>
            <a:srgbClr val="0A6E8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720840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Blockchain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19202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Documents, Credentials,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Store, Revocation Bitstring,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06324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589788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Replay-Resistant Auth Protocol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09728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109728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generates 32-char hex nonce with 30s TTL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7452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7400" y="109728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57400" y="109728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205740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14884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VP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4884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signs VP embedding nonce + domain binding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1188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94760" y="109728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94760" y="109728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379476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862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8620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VP sent to verifier endpoint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4924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32120" y="109728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1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235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5-Check Verify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2356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valid? Used? VP sig? VC sig? Revoked?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08660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269480" y="109728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269480" y="1097280"/>
            <a:ext cx="1554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7269480" y="1097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36092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Invalidate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6092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marked used — prevents all future replays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0B1929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Replay Fails: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005840" y="37947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within 30s → Nonce already marked “used” → REJECTED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after 30s → Nonce expired → REJECTED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nonce → Signature invalid → REJECTED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service → Domain binding mismatch → REJECTED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38" name="Text 34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Privacy-Preserving Revocation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Revocation Bitstring (StatusList2021-inspired)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05156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55448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057400" y="1371600"/>
            <a:ext cx="438912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2"/>
          <p:cNvSpPr/>
          <p:nvPr/>
        </p:nvSpPr>
        <p:spPr>
          <a:xfrm>
            <a:off x="205740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5740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56032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5"/>
          <p:cNvSpPr/>
          <p:nvPr/>
        </p:nvSpPr>
        <p:spPr>
          <a:xfrm>
            <a:off x="256032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56032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06324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8"/>
          <p:cNvSpPr/>
          <p:nvPr/>
        </p:nvSpPr>
        <p:spPr>
          <a:xfrm>
            <a:off x="306324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6324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3566160" y="1371600"/>
            <a:ext cx="438912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6616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06908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4"/>
          <p:cNvSpPr/>
          <p:nvPr/>
        </p:nvSpPr>
        <p:spPr>
          <a:xfrm>
            <a:off x="406908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06908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57200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200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07492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3" name="Text 30"/>
          <p:cNvSpPr/>
          <p:nvPr/>
        </p:nvSpPr>
        <p:spPr>
          <a:xfrm>
            <a:off x="507492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7492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57784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6" name="Text 33"/>
          <p:cNvSpPr/>
          <p:nvPr/>
        </p:nvSpPr>
        <p:spPr>
          <a:xfrm>
            <a:off x="557784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57784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08076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9" name="Text 36"/>
          <p:cNvSpPr/>
          <p:nvPr/>
        </p:nvSpPr>
        <p:spPr>
          <a:xfrm>
            <a:off x="608076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08076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6583680" y="1371600"/>
            <a:ext cx="438912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39"/>
          <p:cNvSpPr/>
          <p:nvPr/>
        </p:nvSpPr>
        <p:spPr>
          <a:xfrm>
            <a:off x="658368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58368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708660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5" name="Text 42"/>
          <p:cNvSpPr/>
          <p:nvPr/>
        </p:nvSpPr>
        <p:spPr>
          <a:xfrm>
            <a:off x="708660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08660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58952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8" name="Text 45"/>
          <p:cNvSpPr/>
          <p:nvPr/>
        </p:nvSpPr>
        <p:spPr>
          <a:xfrm>
            <a:off x="758952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58952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8092440" y="1371600"/>
            <a:ext cx="43891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1" name="Text 48"/>
          <p:cNvSpPr/>
          <p:nvPr/>
        </p:nvSpPr>
        <p:spPr>
          <a:xfrm>
            <a:off x="8092440" y="1371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092440" y="182880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4864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Valid    1 = Revoked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48640" y="25146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48640" y="251460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6" name="Text 53"/>
          <p:cNvSpPr/>
          <p:nvPr/>
        </p:nvSpPr>
        <p:spPr>
          <a:xfrm>
            <a:off x="68580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Revokes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685800" y="29077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/api/revocation/revoke with credential_id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246888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2697480" y="25146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2697480" y="251460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1" name="Text 58"/>
          <p:cNvSpPr/>
          <p:nvPr/>
        </p:nvSpPr>
        <p:spPr>
          <a:xfrm>
            <a:off x="283464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Flipped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2834640" y="29077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3: 0 → 1 in the bitstring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61772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4846320" y="25146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4846320" y="251460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6" name="Text 63"/>
          <p:cNvSpPr/>
          <p:nvPr/>
        </p:nvSpPr>
        <p:spPr>
          <a:xfrm>
            <a:off x="498348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Login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4983480" y="29077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 5 reads bit = 1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76656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6995160" y="25146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6995160" y="2514600"/>
            <a:ext cx="54864" cy="10515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1" name="Text 68"/>
          <p:cNvSpPr/>
          <p:nvPr/>
        </p:nvSpPr>
        <p:spPr>
          <a:xfrm>
            <a:off x="713232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Reject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7132320" y="29077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revoked → Access denied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B1929"/>
          </a:solidFill>
          <a:ln/>
        </p:spPr>
      </p:sp>
      <p:pic>
        <p:nvPicPr>
          <p:cNvPr id="7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1005840" y="3913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Privacy: </a:t>
            </a:r>
            <a:endParaRPr lang="en-US" sz="1200" dirty="0"/>
          </a:p>
        </p:txBody>
      </p:sp>
      <p:sp>
        <p:nvSpPr>
          <p:cNvPr id="76" name="Text 72"/>
          <p:cNvSpPr/>
          <p:nvPr/>
        </p:nvSpPr>
        <p:spPr>
          <a:xfrm>
            <a:off x="1828800" y="391363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a bit index (just a number) — cannot determine which credential it maps to. Holder’s DID is never stored in the registry.</a:t>
            </a:r>
            <a:endParaRPr lang="en-US" sz="1100" dirty="0"/>
          </a:p>
        </p:txBody>
      </p:sp>
      <p:sp>
        <p:nvSpPr>
          <p:cNvPr id="77" name="Shape 7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78" name="Text 74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Technology Stack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+ React + Tailwind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UI, login flow, attack simulation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resolution, challenge engine, VP verification, revocation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documents, credentials, nonce store, revocation bitstring, audit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ECDSA P-256, SHA-256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pair generation, digital signatures, nonce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DID Core v1.0, VC Data Model v2.0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Interoperable DID and credential formats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Ethereum testnet (Hardhat)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DID document and credential hash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Browser-based (React component)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key storage, credential management, VP 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Demo Flow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74320" y="10058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" y="1005840"/>
            <a:ext cx="160020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241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Creation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decentralized identity.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stays on device.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10058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005840"/>
            <a:ext cx="160020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10241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1168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Issuance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173736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issues signed VC.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format with revocation index.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01168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11880" y="22860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49040" y="10058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49040" y="1005840"/>
            <a:ext cx="1600200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7"/>
          <p:cNvSpPr/>
          <p:nvPr/>
        </p:nvSpPr>
        <p:spPr>
          <a:xfrm>
            <a:off x="3749040" y="10241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4904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Login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40480" y="173736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DigiLocker-style auth.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with 30s nonce.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74904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49240" y="22860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10058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0" y="1005840"/>
            <a:ext cx="160020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0" y="10241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 Attack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577840" y="173736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VP, replays it.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rejects: nonce used/expired.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86600" y="228600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223760" y="100584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223760" y="1005840"/>
            <a:ext cx="1600200" cy="5486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4" name="Text 31"/>
          <p:cNvSpPr/>
          <p:nvPr/>
        </p:nvSpPr>
        <p:spPr>
          <a:xfrm>
            <a:off x="7223760" y="10241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22376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Revocation Demo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315200" y="173736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revokes credential.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login fails instantly.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22376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Demo Time: ~12 minutes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Comparison with Existing Systems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Sovrin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CSSI (Ou et al.)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SecureDID (Ours)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Prevention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Session-bound Nonces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Revocation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 Revoc.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DID/VC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Demo 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(deprecated)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6400800" y="-914400"/>
            <a:ext cx="4572000" cy="7315200"/>
          </a:xfrm>
          <a:prstGeom prst="rect">
            <a:avLst/>
          </a:prstGeom>
          <a:solidFill>
            <a:srgbClr val="0077B6">
              <a:alpha val="12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7772400" cy="640080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143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Session-bound challenge-response protocol eliminates credential replay attacks (Attack A8, Kim et al. 2021)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1874520"/>
            <a:ext cx="7772400" cy="640080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1920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Bitstring accumulator enables sub-second, privacy-preserving credential revocation (addressing IEEE Access 2025 gaps)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48640" y="2651760"/>
            <a:ext cx="7772400" cy="640080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2697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(SecureDID) validates both mitigations through live adversarial testing with built-in attack simulator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48640" y="3429000"/>
            <a:ext cx="7772400" cy="640080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6616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follows W3C DID Core v1.0 and VC Data Model v2.0 for interoperability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48640" y="4251960"/>
            <a:ext cx="7772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1"/>
          <p:cNvSpPr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Work: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2286000" y="4389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ZKP-based selective disclosure (BBS+ signatures) for full unlinkability • Cross-chain DID interoperability • Offline verification with cached accumulator states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[R1] Kim et al., “A Security Analysis of Blockchain-Based DID Services,” IEEE Access, vol. 9, 2021.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[R2] Deng et al., “FutureDID: Multi-Party Verification,” IEEE Trans. Computers, vol. 73(8), 2024.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[R3] Krul et al., “SoK: Trusting Self-Sovereign Identity,” PoPETs, vol. 2024(3), pp. 297–313.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[R4] Grüner et al., “SSI Threat Modeling,” Int. J. Inf. Secur., vol. 22, pp. 1231–1248, 2023.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[R5] Kubach et al., “Threats to Blockchain-Based SSI,” Applied Sciences, vol. 14(1), 2024.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[R7] “Credential Revocation &amp; DID Deactivation in SSI,” IEEE Access, 2025. DOI: 10.1109/ACCESS.2025.3649792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Khairnar, “Blockchain DID for IoT Devices,” Vol. 16, No. 6, 2025.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Chan et al., “Blockchain-Assisted SSI on Education,” Blockchains, vol. 3, 2025.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Ou et al., “SSI Framework for Financial Institutions,” Cryptography, vol. 9, 2025.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Schumm et al., “Decentralized Identity Applications Study,” arXiv:2503.15964, 2025.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Standards: DID Core v1.0 (2022), Verifiable Credentials Data Model v2.0 (2024)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Bitstring Status List (2024) for revocation registry design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SecureDID — Decentralized Identity Security System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On-screen Show (16:9)</PresentationFormat>
  <Paragraphs>340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SecureDID - DID Security System</dc:title>
  <dc:subject>PptxGenJS Presentation</dc:subject>
  <dc:creator>Jay Rane</dc:creator>
  <cp:lastModifiedBy>Jay Rane</cp:lastModifiedBy>
  <cp:revision>1</cp:revision>
  <dcterms:created xsi:type="dcterms:W3CDTF">2026-04-13T08:34:32Z</dcterms:created>
  <dcterms:modified xsi:type="dcterms:W3CDTF">2026-04-16T14:26:27Z</dcterms:modified>
</cp:coreProperties>
</file>